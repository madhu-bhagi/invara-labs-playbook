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9f7cfd84ca443a" /><Relationship Type="http://schemas.openxmlformats.org/officeDocument/2006/relationships/extended-properties" Target="/docProps/app.xml" Id="R5b5e4bdbf11e46ee" /><Relationship Type="http://schemas.openxmlformats.org/officeDocument/2006/relationships/officeDocument" Target="/ppt/presentation.xml" Id="R18376d6bd2c849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f9a01bc5244527"/>
  </p:sldMasterIdLst>
  <p:notesMasterIdLst>
    <p:notesMasterId xmlns:r="http://schemas.openxmlformats.org/officeDocument/2006/relationships" r:id="Rd7ee3caed9f0446a"/>
  </p:notesMasterIdLst>
  <p:sldIdLst>
    <p:sldId xmlns:r="http://schemas.openxmlformats.org/officeDocument/2006/relationships" id="256" r:id="R73fc7040c36b47c7"/>
    <p:sldId xmlns:r="http://schemas.openxmlformats.org/officeDocument/2006/relationships" id="257" r:id="Red609fbffb9c42a8"/>
    <p:sldId xmlns:r="http://schemas.openxmlformats.org/officeDocument/2006/relationships" id="258" r:id="Rafc1fda3fd8340b2"/>
    <p:sldId xmlns:r="http://schemas.openxmlformats.org/officeDocument/2006/relationships" id="259" r:id="R6d0693d601734bee"/>
    <p:sldId xmlns:r="http://schemas.openxmlformats.org/officeDocument/2006/relationships" id="260" r:id="R95758725628746a1"/>
    <p:sldId xmlns:r="http://schemas.openxmlformats.org/officeDocument/2006/relationships" id="261" r:id="R78b744e1e8734190"/>
    <p:sldId xmlns:r="http://schemas.openxmlformats.org/officeDocument/2006/relationships" id="262" r:id="Rf67165bea40e4760"/>
    <p:sldId xmlns:r="http://schemas.openxmlformats.org/officeDocument/2006/relationships" id="263" r:id="R7537d6d1dbb54f8a"/>
    <p:sldId xmlns:r="http://schemas.openxmlformats.org/officeDocument/2006/relationships" id="264" r:id="Rb9fb383aab644030"/>
    <p:sldId xmlns:r="http://schemas.openxmlformats.org/officeDocument/2006/relationships" id="265" r:id="R12f29affdb7a4778"/>
    <p:sldId xmlns:r="http://schemas.openxmlformats.org/officeDocument/2006/relationships" id="266" r:id="R09979620b8cc4e4f"/>
    <p:sldId xmlns:r="http://schemas.openxmlformats.org/officeDocument/2006/relationships" id="267" r:id="Re2b13cdf438241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89b2026beb405d" /><Relationship Type="http://schemas.openxmlformats.org/officeDocument/2006/relationships/slideMaster" Target="/ppt/slideMasters/slideMaster1.xml" Id="R68f9a01bc5244527" /><Relationship Type="http://schemas.openxmlformats.org/officeDocument/2006/relationships/notesMaster" Target="/ppt/notesMasters/notesMaster1.xml" Id="Rd7ee3caed9f0446a" /><Relationship Type="http://schemas.openxmlformats.org/officeDocument/2006/relationships/presProps" Target="/ppt/presProps.xml" Id="Rb4f36f3fbc7449d8" /><Relationship Type="http://schemas.openxmlformats.org/officeDocument/2006/relationships/tableStyles" Target="/ppt/tableStyles.xml" Id="R031f880047464ece" /><Relationship Type="http://schemas.openxmlformats.org/officeDocument/2006/relationships/slide" Target="/ppt/slides/slide1.xml" Id="R73fc7040c36b47c7" /><Relationship Type="http://schemas.openxmlformats.org/officeDocument/2006/relationships/slide" Target="/ppt/slides/slide2.xml" Id="Red609fbffb9c42a8" /><Relationship Type="http://schemas.openxmlformats.org/officeDocument/2006/relationships/slide" Target="/ppt/slides/slide3.xml" Id="Rafc1fda3fd8340b2" /><Relationship Type="http://schemas.openxmlformats.org/officeDocument/2006/relationships/slide" Target="/ppt/slides/slide4.xml" Id="R6d0693d601734bee" /><Relationship Type="http://schemas.openxmlformats.org/officeDocument/2006/relationships/slide" Target="/ppt/slides/slide5.xml" Id="R95758725628746a1" /><Relationship Type="http://schemas.openxmlformats.org/officeDocument/2006/relationships/slide" Target="/ppt/slides/slide6.xml" Id="R78b744e1e8734190" /><Relationship Type="http://schemas.openxmlformats.org/officeDocument/2006/relationships/slide" Target="/ppt/slides/slide7.xml" Id="Rf67165bea40e4760" /><Relationship Type="http://schemas.openxmlformats.org/officeDocument/2006/relationships/slide" Target="/ppt/slides/slide8.xml" Id="R7537d6d1dbb54f8a" /><Relationship Type="http://schemas.openxmlformats.org/officeDocument/2006/relationships/slide" Target="/ppt/slides/slide9.xml" Id="Rb9fb383aab644030" /><Relationship Type="http://schemas.openxmlformats.org/officeDocument/2006/relationships/slide" Target="/ppt/slides/slide10.xml" Id="R12f29affdb7a4778" /><Relationship Type="http://schemas.openxmlformats.org/officeDocument/2006/relationships/slide" Target="/ppt/slides/slide11.xml" Id="R09979620b8cc4e4f" /><Relationship Type="http://schemas.openxmlformats.org/officeDocument/2006/relationships/slide" Target="/ppt/slides/slide12.xml" Id="Re2b13cdf438241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f6ea698afc4c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3a6e4d8fd7475d" /><Relationship Type="http://schemas.openxmlformats.org/officeDocument/2006/relationships/notesMaster" Target="/ppt/notesMasters/notesMaster1.xml" Id="R786cabfaade747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95dc8509404a8e" /><Relationship Type="http://schemas.openxmlformats.org/officeDocument/2006/relationships/notesMaster" Target="/ppt/notesMasters/notesMaster1.xml" Id="Re042eeb786c640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92dd99771e4ede" /><Relationship Type="http://schemas.openxmlformats.org/officeDocument/2006/relationships/notesMaster" Target="/ppt/notesMasters/notesMaster1.xml" Id="R5551672a8adc43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13c2be145a477b" /><Relationship Type="http://schemas.openxmlformats.org/officeDocument/2006/relationships/notesMaster" Target="/ppt/notesMasters/notesMaster1.xml" Id="R077af170bcc24e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d51515020c46b6" /><Relationship Type="http://schemas.openxmlformats.org/officeDocument/2006/relationships/notesMaster" Target="/ppt/notesMasters/notesMaster1.xml" Id="R8e6fbd261a6443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c9248215f44d36" /><Relationship Type="http://schemas.openxmlformats.org/officeDocument/2006/relationships/notesMaster" Target="/ppt/notesMasters/notesMaster1.xml" Id="R8393095625b341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65e37ae8354423" /><Relationship Type="http://schemas.openxmlformats.org/officeDocument/2006/relationships/notesMaster" Target="/ppt/notesMasters/notesMaster1.xml" Id="R18d4e7e0da69450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9fdd76a58a74e14" /><Relationship Type="http://schemas.openxmlformats.org/officeDocument/2006/relationships/notesMaster" Target="/ppt/notesMasters/notesMaster1.xml" Id="R6c3a04ab0d34457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317043a7b44471d" /><Relationship Type="http://schemas.openxmlformats.org/officeDocument/2006/relationships/notesMaster" Target="/ppt/notesMasters/notesMaster1.xml" Id="R79c9ff31ccb449e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8709853dd214758" /><Relationship Type="http://schemas.openxmlformats.org/officeDocument/2006/relationships/notesMaster" Target="/ppt/notesMasters/notesMaster1.xml" Id="R1e115537c153405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694819c82f3448b" /><Relationship Type="http://schemas.openxmlformats.org/officeDocument/2006/relationships/notesMaster" Target="/ppt/notesMasters/notesMaster1.xml" Id="Rb8fc48f8848d44f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9604d8e088c4d7b" /><Relationship Type="http://schemas.openxmlformats.org/officeDocument/2006/relationships/notesMaster" Target="/ppt/notesMasters/notesMaster1.xml" Id="Rde10ece58e8443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client outcome, not a list of technologies.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docs/02-business/02-company-strategy-pack.md</a:t>
            </a:r>
          </a:p>
          <a:p xmlns:a="http://schemas.openxmlformats.org/drawingml/2006/main">
            <a:r>
              <a:t>- docs/01-foundation/03-vision.md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docs/02-business/02-company-strategy-pack.md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beachhead hypothesis to validate, not a permanent market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docs/02-business/02-company-strategy-pack.md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docs/02-business/02-company-strategy-pack.md</a:t>
            </a:r>
          </a:p>
          <a:p xmlns:a="http://schemas.openxmlformats.org/drawingml/2006/main">
            <a:r>
              <a:t>- docs/08-marketing/01-company-website-content.md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docs/06-sales/01-launch-service-catalogue.md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paid diagnostic, not a generic maturity certification or free architecture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docs/06-sales/01-launch-service-catalogue.md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Angular and Nx are initial proof strengths, not the company identity.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docs/06-sales/01-launch-service-catalogue.md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imply legal certification, autonomous decisions, or guaranteed productivity gains.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docs/06-sales/01-launch-service-catalogue.md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docs/06-sales/01-launch-service-catalogue.md</a:t>
            </a:r>
          </a:p>
          <a:p xmlns:a="http://schemas.openxmlformats.org/drawingml/2006/main">
            <a:r>
              <a:t>- docs/08-marketing/01-company-website-content.md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repository has broad Draft coverage. Do not describe it as client-proven or fully stable.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docs/02-business/02-company-strategy-pack.md</a:t>
            </a:r>
          </a:p>
          <a:p xmlns:a="http://schemas.openxmlformats.org/drawingml/2006/main">
            <a:r>
              <a:t>- docs/08-marketing/01-company-website-content.md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docs/01-foundation/03-vision.md</a:t>
            </a:r>
          </a:p>
          <a:p xmlns:a="http://schemas.openxmlformats.org/drawingml/2006/main">
            <a:r>
              <a:t>- docs/06-sales/01-launch-service-catalogue.md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asking for a 30-minute qualification conversation, not a free assessment.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docs/08-marketing/01-company-website-content.md</a:t>
            </a:r>
          </a:p>
          <a:p xmlns:a="http://schemas.openxmlformats.org/drawingml/2006/main">
            <a:r>
              <a:t>- docs/06-sales/01-launch-service-catalogue.md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804125fb214c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ccab5edc4447e2" /><Relationship Type="http://schemas.openxmlformats.org/officeDocument/2006/relationships/slideLayout" Target="/ppt/slideLayouts/slideLayout1.xml" Id="Rd4f3fcbde9984f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f3fcbde9984f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17aba307d04c8f" /><Relationship Type="http://schemas.openxmlformats.org/officeDocument/2006/relationships/notesSlide" Target="/ppt/notesSlides/notesSlide1.xml" Id="R014659c44a0b4a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dd3c7aab9446d" /><Relationship Type="http://schemas.openxmlformats.org/officeDocument/2006/relationships/notesSlide" Target="/ppt/notesSlides/notesSlide2.xml" Id="Rc87e26b87e8046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59bb1f53db4fa3" /><Relationship Type="http://schemas.openxmlformats.org/officeDocument/2006/relationships/notesSlide" Target="/ppt/notesSlides/notesSlide3.xml" Id="R6f7d588be8bf4b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c1105a97e7444d" /><Relationship Type="http://schemas.openxmlformats.org/officeDocument/2006/relationships/notesSlide" Target="/ppt/notesSlides/notesSlide4.xml" Id="Rce881d360f5240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ae13e702c84bcd" /><Relationship Type="http://schemas.openxmlformats.org/officeDocument/2006/relationships/notesSlide" Target="/ppt/notesSlides/notesSlide5.xml" Id="Rf7dd0d3d40c740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849f9433354b77" /><Relationship Type="http://schemas.openxmlformats.org/officeDocument/2006/relationships/notesSlide" Target="/ppt/notesSlides/notesSlide6.xml" Id="R2087ad85d04e4d6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21e5268174843" /><Relationship Type="http://schemas.openxmlformats.org/officeDocument/2006/relationships/notesSlide" Target="/ppt/notesSlides/notesSlide7.xml" Id="Rc544e4f3c0b44a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a876ac7504aef" /><Relationship Type="http://schemas.openxmlformats.org/officeDocument/2006/relationships/notesSlide" Target="/ppt/notesSlides/notesSlide8.xml" Id="R3a8247d1a4ef416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5bddaac83b474b" /><Relationship Type="http://schemas.openxmlformats.org/officeDocument/2006/relationships/notesSlide" Target="/ppt/notesSlides/notesSlide9.xml" Id="Ree162b03fbd0477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bda86b26364533" /><Relationship Type="http://schemas.openxmlformats.org/officeDocument/2006/relationships/notesSlide" Target="/ppt/notesSlides/notesSlide10.xml" Id="R2767186e22cf44c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737b71ae247fc" /><Relationship Type="http://schemas.openxmlformats.org/officeDocument/2006/relationships/notesSlide" Target="/ppt/notesSlides/notesSlide11.xml" Id="R11c646e775cd4a5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460309bc2644a6" /><Relationship Type="http://schemas.openxmlformats.org/officeDocument/2006/relationships/notesSlide" Target="/ppt/notesSlides/notesSlide12.xml" Id="R602f3aa1daff4b6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B40F49E5-4D62-4992-AD73-49EFECCE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Build better software.
Build stronger engineering capability.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B28F4B2E-90A0-495E-BF00-863BEA8F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Engineering First. AI Enabled. Business Focused.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B2561A2D-F7C5-4E34-A2EC-FD83911D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INVARA LABS</a:t>
            </a:r>
          </a:p>
        </p:txBody>
      </p:sp>
    </p:spTree>
    <p:extLst>
      <p:ext uri="{BB962C8B-B14F-4D97-AF65-F5344CB8AC3E}">
        <p14:creationId xmlns:p14="http://schemas.microsoft.com/office/powerpoint/2010/main" val="143500310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4-p58-1">
            <a:extLst xmlns:a="http://schemas.openxmlformats.org/drawingml/2006/main">
              <a:ext uri="{FF2B5EF4-FFF2-40B4-BE49-F238E27FC236}">
                <a16:creationId xmlns:a16="http://schemas.microsoft.com/office/drawing/2014/main" id="{3DAE5128-57E0-4FE0-A43E-D56A5F35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838801"/>
            <a:ext cx="5533168" cy="41555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What leaders see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Delivery slows. Architecture decisions diverge. Technical debt compounds. Operational risk becomes visible to the business.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AI tools spread faster than governance, verification, and outcome measurement.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Important knowledge remains fragmented across people, systems, and documents.</a:t>
            </a:r>
          </a:p>
        </p:txBody>
      </p:sp>
      <p:sp>
        <p:nvSpPr>
          <p:cNvPr id="2" name="Google-Shape-532-p58-3">
            <a:extLst xmlns:a="http://schemas.openxmlformats.org/drawingml/2006/main">
              <a:ext uri="{FF2B5EF4-FFF2-40B4-BE49-F238E27FC236}">
                <a16:creationId xmlns:a16="http://schemas.microsoft.com/office/drawing/2014/main" id="{D194B7A3-5C1A-4357-A1DC-1FE297AF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3" name="Google-Shape-533-p58-4">
            <a:extLst xmlns:a="http://schemas.openxmlformats.org/drawingml/2006/main">
              <a:ext uri="{FF2B5EF4-FFF2-40B4-BE49-F238E27FC236}">
                <a16:creationId xmlns:a16="http://schemas.microsoft.com/office/drawing/2014/main" id="{FDD5F055-FEF1-4403-B26D-D034BA50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Software complexity eventually outgrows the system around it</a:t>
            </a:r>
          </a:p>
        </p:txBody>
      </p:sp>
      <p:sp>
        <p:nvSpPr>
          <p:cNvPr id="4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748743B9-F846-4B35-8370-040825DF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069" y="2192655"/>
            <a:ext cx="5537168" cy="38017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Hiring more developers does not repair a weak engineering system.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Leaders need focused senior judgement, a practical improvement path, and capability their teams can retain.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first step should reduce uncertainty before a larger commitment.</a:t>
            </a:r>
          </a:p>
        </p:txBody>
      </p:sp>
    </p:spTree>
    <p:extLst>
      <p:ext uri="{BB962C8B-B14F-4D97-AF65-F5344CB8AC3E}">
        <p14:creationId xmlns:p14="http://schemas.microsoft.com/office/powerpoint/2010/main" val="3200857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45828562-22D7-4A60-B70B-0DA33D0C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16188C2E-0C98-42CE-BAC8-CEE7047A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We focus on software-intensive B2B product companies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F6385BE0-1A78-40DD-AFA9-98CFF6AD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20–150 engineers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Large enough to feel architecture, delivery, quality, and platform friction.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2651AB17-4BE8-403B-83B3-4B4FD965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Urgent trigger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material decision or consequence exists within the next 90 days.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7D6C2425-84AB-4737-80A2-F73D0DFC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Accountable buyer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CTO, VP Engineering, or technical leader owns the decision and budget path.</a:t>
            </a:r>
          </a:p>
        </p:txBody>
      </p:sp>
    </p:spTree>
    <p:extLst>
      <p:ext uri="{BB962C8B-B14F-4D97-AF65-F5344CB8AC3E}">
        <p14:creationId xmlns:p14="http://schemas.microsoft.com/office/powerpoint/2010/main" val="94200162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2579A615-9B93-4227-869B-8896FF0F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485235C8-0231-42E0-A746-1F0B52A0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Invara Labs builds capability, not dependency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9B8E702A-4D02-4416-8C80-9C967C9B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Senior judgement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Founder-led architecture and hands-on engineering attention.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CFA5329-E9A1-4888-8BC6-14A229F0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Outcome first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Business consequence and evidence before technology selection.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6992F959-BB06-4670-AA96-7D289333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Responsible AI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AI accelerates suitable work; engineers retain authority.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87AAB91B-4456-4948-BCB6-A7ECD74F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Capability transfer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Clients retain clearer decisions, reusable knowledge, and ownership.</a:t>
            </a:r>
          </a:p>
        </p:txBody>
      </p:sp>
    </p:spTree>
    <p:extLst>
      <p:ext uri="{BB962C8B-B14F-4D97-AF65-F5344CB8AC3E}">
        <p14:creationId xmlns:p14="http://schemas.microsoft.com/office/powerpoint/2010/main" val="6681526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5ED628A-77AA-402C-9D30-C0257690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BAE5174E-3B09-491C-B727-4D174B1A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Three focused entry points. One accountable outcome.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166F6BD5-9E42-47DF-B863-2C1B944B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Engineering Excellence Assessment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Independent evidence, material risks, and a prioritised 30/60/90-day action plan.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A962A20A-ECD1-4C21-8D07-7E95AB68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AI Engineering Adoption Sprint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governed workflow, one enabled team, and evidence for the next decision.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F48B608A-BB14-4A33-AAE5-70A8B2F7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Modernisation Accelerator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defensible target direction, sequenced migration, and a bounded pilot.</a:t>
            </a:r>
          </a:p>
        </p:txBody>
      </p:sp>
    </p:spTree>
    <p:extLst>
      <p:ext uri="{BB962C8B-B14F-4D97-AF65-F5344CB8AC3E}">
        <p14:creationId xmlns:p14="http://schemas.microsoft.com/office/powerpoint/2010/main" val="161853439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4-p58-1">
            <a:extLst xmlns:a="http://schemas.openxmlformats.org/drawingml/2006/main">
              <a:ext uri="{FF2B5EF4-FFF2-40B4-BE49-F238E27FC236}">
                <a16:creationId xmlns:a16="http://schemas.microsoft.com/office/drawing/2014/main" id="{F195A360-65AF-4FB5-9DA3-71D44CD9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838801"/>
            <a:ext cx="5533168" cy="41555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1–2 weeks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Confirm the business decision and scope. Review selected systems, artefacts, and workflows. Interview responsible leaders and practitioners.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Validate findings and prioritise action by impact, risk, effort, and urgency.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Fixed fee after qualification and scope confirmation.</a:t>
            </a:r>
          </a:p>
        </p:txBody>
      </p:sp>
      <p:sp>
        <p:nvSpPr>
          <p:cNvPr id="2" name="Google-Shape-532-p58-3">
            <a:extLst xmlns:a="http://schemas.openxmlformats.org/drawingml/2006/main">
              <a:ext uri="{FF2B5EF4-FFF2-40B4-BE49-F238E27FC236}">
                <a16:creationId xmlns:a16="http://schemas.microsoft.com/office/drawing/2014/main" id="{9E207AEB-0358-4D67-AC8C-4121A2BC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3" name="Google-Shape-533-p58-4">
            <a:extLst xmlns:a="http://schemas.openxmlformats.org/drawingml/2006/main">
              <a:ext uri="{FF2B5EF4-FFF2-40B4-BE49-F238E27FC236}">
                <a16:creationId xmlns:a16="http://schemas.microsoft.com/office/drawing/2014/main" id="{A342D496-C8AF-48B4-9CF1-65BDA737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Assessment turns engineering concern into a decision package</a:t>
            </a:r>
          </a:p>
        </p:txBody>
      </p:sp>
      <p:sp>
        <p:nvSpPr>
          <p:cNvPr id="4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2AF97D38-B878-4674-B948-E35C7E77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069" y="2192655"/>
            <a:ext cx="5537168" cy="38017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Executive findings and decision summary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Evidence-linked risks and strengths within scope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Prioritised 30/60/90-day recommendations and leadership readout</a:t>
            </a:r>
          </a:p>
        </p:txBody>
      </p:sp>
    </p:spTree>
    <p:extLst>
      <p:ext uri="{BB962C8B-B14F-4D97-AF65-F5344CB8AC3E}">
        <p14:creationId xmlns:p14="http://schemas.microsoft.com/office/powerpoint/2010/main" val="68528201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4-p58-1">
            <a:extLst xmlns:a="http://schemas.openxmlformats.org/drawingml/2006/main">
              <a:ext uri="{FF2B5EF4-FFF2-40B4-BE49-F238E27FC236}">
                <a16:creationId xmlns:a16="http://schemas.microsoft.com/office/drawing/2014/main" id="{5B92A0DC-A3C7-41E5-8393-DEACFD58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838801"/>
            <a:ext cx="5533168" cy="41555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Discovery + pilot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Baseline the business constraint and current system. Compare viable options. Define a sequenced migration path.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Test the direction through a bounded 2–6 week pilot or reference slice.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Expand only after a clear go, change, pause, or stop decision.</a:t>
            </a:r>
          </a:p>
        </p:txBody>
      </p:sp>
      <p:sp>
        <p:nvSpPr>
          <p:cNvPr id="2" name="Google-Shape-532-p58-3">
            <a:extLst xmlns:a="http://schemas.openxmlformats.org/drawingml/2006/main">
              <a:ext uri="{FF2B5EF4-FFF2-40B4-BE49-F238E27FC236}">
                <a16:creationId xmlns:a16="http://schemas.microsoft.com/office/drawing/2014/main" id="{1A000080-D73C-47FB-827D-3EF95512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sp>
        <p:nvSpPr>
          <p:cNvPr id="3" name="Google-Shape-533-p58-4">
            <a:extLst xmlns:a="http://schemas.openxmlformats.org/drawingml/2006/main">
              <a:ext uri="{FF2B5EF4-FFF2-40B4-BE49-F238E27FC236}">
                <a16:creationId xmlns:a16="http://schemas.microsoft.com/office/drawing/2014/main" id="{A0AF45FE-C8F5-4FF3-9E8A-BB4A2629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Modernisation starts with evidence, not a rewrite</a:t>
            </a:r>
          </a:p>
        </p:txBody>
      </p:sp>
      <p:sp>
        <p:nvSpPr>
          <p:cNvPr id="4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698C2C9D-9A42-4DAB-BF5B-2DE5D1EC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069" y="2192655"/>
            <a:ext cx="5537168" cy="38017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Current-state baseline and target architecture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Migration roadmap, risks, coexistence, and rollback considerations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Pilot evidence, handover, and next-phase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99310563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4-p58-1">
            <a:extLst xmlns:a="http://schemas.openxmlformats.org/drawingml/2006/main">
              <a:ext uri="{FF2B5EF4-FFF2-40B4-BE49-F238E27FC236}">
                <a16:creationId xmlns:a16="http://schemas.microsoft.com/office/drawing/2014/main" id="{3BF07A0F-0A57-4135-9497-D22BE30D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838801"/>
            <a:ext cx="5533168" cy="41555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2–4 week sprint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Choose one team and a bounded use case. Identify policy, security, privacy, and intellectual-property constraints.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Run a workflow with named human accountability and measure effort, quality, failures, and feedback.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Decide what to adopt, revise, restrict, or stop.</a:t>
            </a:r>
          </a:p>
        </p:txBody>
      </p:sp>
      <p:sp>
        <p:nvSpPr>
          <p:cNvPr id="2" name="Google-Shape-532-p58-3">
            <a:extLst xmlns:a="http://schemas.openxmlformats.org/drawingml/2006/main">
              <a:ext uri="{FF2B5EF4-FFF2-40B4-BE49-F238E27FC236}">
                <a16:creationId xmlns:a16="http://schemas.microsoft.com/office/drawing/2014/main" id="{34E27C4A-2693-471F-9391-E1D09E45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  <p:sp>
        <p:nvSpPr>
          <p:cNvPr id="3" name="Google-Shape-533-p58-4">
            <a:extLst xmlns:a="http://schemas.openxmlformats.org/drawingml/2006/main">
              <a:ext uri="{FF2B5EF4-FFF2-40B4-BE49-F238E27FC236}">
                <a16:creationId xmlns:a16="http://schemas.microsoft.com/office/drawing/2014/main" id="{538F3343-9529-4592-85E2-A20771FB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AI adoption should earn the right to scale</a:t>
            </a:r>
          </a:p>
        </p:txBody>
      </p:sp>
      <p:sp>
        <p:nvSpPr>
          <p:cNvPr id="4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97D5D565-454D-4426-A25D-F29ACA71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069" y="2192655"/>
            <a:ext cx="5537168" cy="38017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Use-case and risk assessment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Pilot workflow, validation controls, and team enablement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 summary and adoption backlog</a:t>
            </a:r>
          </a:p>
        </p:txBody>
      </p:sp>
    </p:spTree>
    <p:extLst>
      <p:ext uri="{BB962C8B-B14F-4D97-AF65-F5344CB8AC3E}">
        <p14:creationId xmlns:p14="http://schemas.microsoft.com/office/powerpoint/2010/main" val="127232759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7537B0B6-EE67-4959-BDFF-BDD02715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09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165FAB1C-D4C0-43B8-A39C-E5F94ADE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Every engagement moves from uncertainty to an owned decision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3D176EB6-1152-4F9D-8B20-75C19201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We keep the first step bounded, evidence-led, and useful even when the answer is to stop.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81D4B038-212B-4452-9829-CA0563F0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  Qualify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4D25BF48-180E-4640-A1F8-91627796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2840D422-A2A4-47BD-BA3E-D82B4582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Qualify → Focus → Examine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Decide → Enable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DCAD2029-44A1-4A98-83B9-D7D0058D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  Focus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EE95FC85-55D2-4E09-8B46-015F14DA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2E14CDF8-560C-4506-8B07-168A3C2C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  Examine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EA3C92BE-DF32-4E37-8896-BDD2E6E1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25B48E78-D5FF-4E94-9724-4F1A3202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  Decide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5CCC104F-7102-4F5D-AA4E-3EB13DCD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22F418E5-C8B8-4097-99E4-F850D21E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05  Enable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9B59CCFF-73F9-46E6-94B2-BA56E1598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17539608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29175D98-0D98-489B-88A9-AB2D61BB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75C80968-7CAC-43FA-B461-1B611DF3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reusable Engineering Operating System supports the work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92699682-76AB-4D6F-B21D-FE9E06C0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Principles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Why sound engineering decisions are made.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08F532C6-8272-4A55-87AD-A55490AB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Playbooks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How recurring engineering work is performed.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15BB6195-7575-44E7-8E93-90EEF9FC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Standards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Which rules, controls, and evidence apply.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D14A82EB-1009-48A9-A6E0-F2EBB047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References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Shared language and reusable lookup material.</a:t>
            </a:r>
          </a:p>
        </p:txBody>
      </p:sp>
    </p:spTree>
    <p:extLst>
      <p:ext uri="{BB962C8B-B14F-4D97-AF65-F5344CB8AC3E}">
        <p14:creationId xmlns:p14="http://schemas.microsoft.com/office/powerpoint/2010/main" val="108827469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4FE103F9-7BBA-4FB2-8C73-F8F41D30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1FF5FC1A-255B-4632-84EB-66345008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Trust is built into the engagement, not added at the end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62468413-0DEB-45BE-99D1-5A63099B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13C1D0D2-A96C-46E5-90A4-E6C8F890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AB5ADA32-91CC-4987-A955-01905EF3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Human accountability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Engineers remain accountable.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FDDDD23-2FA5-4837-B7CC-49E7525E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Capability transfer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Practical artefacts, handover, and ownership.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FB49C809-C78C-44CC-A5B9-3DA1D8E2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3062ED70-2982-4005-BB55-58341E5B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254F1130-B5F9-4540-BB91-363D08B0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E3A805DD-62FC-4218-84A3-118FB866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Transparent scope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Scope, ownership, and acceptance are explicit.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3499F541-CA7F-4C60-8924-06006E3C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D94B0429-B3D9-4CC4-9890-1DD962A5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Our promise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Better software, clearer decisions, stronger practices, and knowledge the client can own.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Claims are tied to agreed baselines and evidence, not universal promises.</a:t>
            </a:r>
          </a:p>
        </p:txBody>
      </p:sp>
    </p:spTree>
    <p:extLst>
      <p:ext uri="{BB962C8B-B14F-4D97-AF65-F5344CB8AC3E}">
        <p14:creationId xmlns:p14="http://schemas.microsoft.com/office/powerpoint/2010/main" val="131333607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51291E3B-5EAD-4A5C-B6AD-02006E3C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Bring us one material
engineering problem.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3D6AC84A-A9C6-4CE8-94CD-54363711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What is changing?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Why does it matter now?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Which decision must be made?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633D520A-864F-40F8-A38E-E4A63DFE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INVARA LABS</a:t>
            </a:r>
          </a:p>
        </p:txBody>
      </p:sp>
    </p:spTree>
    <p:extLst>
      <p:ext uri="{BB962C8B-B14F-4D97-AF65-F5344CB8AC3E}">
        <p14:creationId xmlns:p14="http://schemas.microsoft.com/office/powerpoint/2010/main" val="9259761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2026-07-31T19:36:57.5140000Z</dcterms:created>
  <dcterms:modified xsi:type="dcterms:W3CDTF">2026-07-31T19:36:57.5140000Z</dcterms:modified>
</coreProperties>
</file>